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D9AA46"/>
                </a:solidFill>
                <a:latin typeface="Calibri"/>
              </a:rPr>
              <a:t>LUXURY WEDDINGS &amp; EVENTS · DESIGN TO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2011680"/>
            <a:ext cx="2011680" cy="2286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F8D78B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FF6DF"/>
                </a:solidFill>
                <a:latin typeface="Georgia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FFF6DF"/>
                </a:solidFill>
                <a:latin typeface="Calibri"/>
              </a:rPr>
              <a:t>Designing unforgettable celebrations — plan · design · film · execute.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029200"/>
            <a:ext cx="2011680" cy="2286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8B98E"/>
                </a:solidFill>
                <a:latin typeface="Calibri"/>
              </a:rPr>
              <a:t>COMPANY PROFILE &amp;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We don't just plan weddings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5943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FF6DF"/>
                </a:solidFill>
                <a:latin typeface="Calibri"/>
              </a:rPr>
              <a:t>We bring your unique love story to life. Every detail reflects your personality, style and dreams — so you can manage nothing and enjoy every single moment.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FF6D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FF6DF"/>
                </a:solidFill>
                <a:latin typeface="Calibri"/>
              </a:rPr>
              <a:t>Spark Planners pairs design-led, technology-enabled planning with TentnMore's full-service execution across Delhi/NCR and destinations nationwide. From first concept to the final frame, one accountable team owns your celebration.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2011680"/>
            <a:ext cx="4251960" cy="96012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Design-led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2374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8B98E"/>
                </a:solidFill>
                <a:latin typeface="Calibri"/>
              </a:rPr>
              <a:t>Every element drawn to scale before it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3108960"/>
            <a:ext cx="4251960" cy="96012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246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Full-service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2102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8B98E"/>
                </a:solidFill>
                <a:latin typeface="Calibri"/>
              </a:rPr>
              <a:t>Décor, films, catering, logistics — under one roof.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206240"/>
            <a:ext cx="4251960" cy="96012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3434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On the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183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8B98E"/>
                </a:solidFill>
                <a:latin typeface="Calibri"/>
              </a:rPr>
              <a:t>Seasoned Delhi/NCR execution, calm and flawless.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Two studios, one seamless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212080" cy="3749039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73152" cy="3749039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8D78B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DESIGN &amp;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6DF"/>
                </a:solidFill>
                <a:latin typeface="Calibri"/>
              </a:rPr>
              <a:t>Architecture-grade design of venue, mandap, décor and lighting — drawn to scale, previewed in 3D, and presented as client-ready boards. In-house films capture every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3368" y="1965960"/>
            <a:ext cx="5212080" cy="3749039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3368" y="1965960"/>
            <a:ext cx="73152" cy="3749039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8D78B"/>
                </a:solidFill>
                <a:latin typeface="Georgia"/>
              </a:rPr>
              <a:t>TentnMore Event Planners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EXECUTION &amp; HOSPITALITY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6DF"/>
                </a:solidFill>
                <a:latin typeface="Calibri"/>
              </a:rPr>
              <a:t>Delhi/NCR's full-service event house: vendors, fabrication, catering, logistics and on-ground delivery, with a proven portfolio across weddings, parties and corporate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Full-service,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Planning &amp;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4" y="201168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21024" y="201168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Ceremonies &amp;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Design, Décor &amp; Florals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576" y="201168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0576" y="201168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Catering, Menu &amp; Cake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9476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79476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Films &amp; Photography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1024" y="379476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21024" y="379476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Entertainment &amp; Choreography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Guest Experience &amp; Logistics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6" y="3794760"/>
            <a:ext cx="2542032" cy="150876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576" y="3794760"/>
            <a:ext cx="2542032" cy="73152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8D78B"/>
                </a:solidFill>
                <a:latin typeface="Georgia"/>
              </a:rPr>
              <a:t>Beyond Weddings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PLANNING &amp;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From scouting to seamless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Destination Wedding Scouting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Breathtaking backdrops countrywide, with guest travel, stay and local legal compliance handled by our concierge.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Wedding Venue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Ideal spaces matched to you, virtual or in-person site visits, and negotiated premium rates with optimised layouts.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Event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A master blueprint with minute-by-minute schedules and built-in buffers to keep every vendor team in 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Logistics, Hospitality &amp;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A premium fleet, airport welcome desks, luggage-tagged check-ins and 24/7 on-site guest support.</a:t>
            </a:r>
          </a:p>
        </p:txBody>
      </p:sp>
      <p:pic>
        <p:nvPicPr>
          <p:cNvPr id="20" name="Picture 19" descr="acc-venue-wide.png"/>
          <p:cNvPicPr>
            <a:picLocks noChangeAspect="1"/>
          </p:cNvPicPr>
          <p:nvPr/>
        </p:nvPicPr>
        <p:blipFill>
          <a:blip r:embed="rId2"/>
          <a:srcRect l="26347" r="26347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CEREMONIES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Every ritual, beautifully staged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Proposal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Bespoke surprise concepts with secret locations, hidden cameras, music, flowers and flawless timing.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Mehandi · Haldi · Sangeet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Sacred family rituals with festive, high-octane energy, bold palettes and interactive stalls like lac bangles and chaat.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Wedding &amp; Reception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Serene ceremony altars, grand couple entries, and a seamless flow from speeches to after-party.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Choreography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Routines tailored to your skill level, energetic family mashups and stage blocking under the lights.</a:t>
            </a:r>
          </a:p>
        </p:txBody>
      </p:sp>
      <p:pic>
        <p:nvPicPr>
          <p:cNvPr id="20" name="Picture 19" descr="g7-outdoor-stage.png"/>
          <p:cNvPicPr>
            <a:picLocks noChangeAspect="1"/>
          </p:cNvPicPr>
          <p:nvPr/>
        </p:nvPicPr>
        <p:blipFill>
          <a:blip r:embed="rId2"/>
          <a:srcRect l="12851" r="1285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DESIGN, DÉCOR &amp; FLORALS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Visual storytelling, drawn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1887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1887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Wedding Décor for All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Custom-fabricated stages and backdrops, immersive smart lighting, and premium linens, drapes and carpets.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37560"/>
            <a:ext cx="5715000" cy="11887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3337560"/>
            <a:ext cx="64008" cy="11887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Flowers &amp; Bouquets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Massive floral installations from rare, farm-sourced blooms, plus bouquets, boutonnieres, garlands and scent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709160"/>
            <a:ext cx="5715000" cy="11887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709160"/>
            <a:ext cx="64008" cy="11887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280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Wedding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846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Custom stationery suites, interactive digital websites, real-time RSVP tracking and gourmet invite hampers.</a:t>
            </a:r>
          </a:p>
        </p:txBody>
      </p:sp>
      <p:pic>
        <p:nvPicPr>
          <p:cNvPr id="16" name="Picture 15" descr="g2-floral-wall.png"/>
          <p:cNvPicPr>
            <a:picLocks noChangeAspect="1"/>
          </p:cNvPicPr>
          <p:nvPr/>
        </p:nvPicPr>
        <p:blipFill>
          <a:blip r:embed="rId2"/>
          <a:srcRect l="22048" r="22048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CATERING, MENU &amp; CAKE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A dining experience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8745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8745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Catering &amp; Wedding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Bespoke multi-cuisine menus shaped through private chef tastings, live theatre food stations, and full vegan, gluten-free and allergy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23360"/>
            <a:ext cx="5715000" cy="18745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4023360"/>
            <a:ext cx="64008" cy="18745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Wedding Cake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988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Edible sugar-art masterpieces matched to your dress, premium fillings, dramatic reveals, cupcakes and dessert tables.</a:t>
            </a:r>
          </a:p>
        </p:txBody>
      </p:sp>
      <p:pic>
        <p:nvPicPr>
          <p:cNvPr id="12" name="Picture 11" descr="g4-golden-dining.png"/>
          <p:cNvPicPr>
            <a:picLocks noChangeAspect="1"/>
          </p:cNvPicPr>
          <p:nvPr/>
        </p:nvPicPr>
        <p:blipFill>
          <a:blip r:embed="rId2"/>
          <a:srcRect l="13030" r="13030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FILMS, ENTERTAINMENT &amp; GUEST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The day, captured and celebrated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Photography &amp; Cinematography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Top-tier storytellers for editorial pre-wedding shoots, movie-quality films and fast quick-preview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Entertainment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Premium live acts — DJs, brass bands, acoustic duos — plus magicians, flash mobs, photo booths and 360° cameras.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Artist &amp; Celebrity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A-list musicians, actors and hosts with full technical, rider, green-room and private-security handling.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102420"/>
          </a:solidFill>
          <a:ln w="762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D78B"/>
                </a:solidFill>
                <a:latin typeface="Georgia"/>
              </a:rPr>
              <a:t>Favours &amp; Gifts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8B98E"/>
                </a:solidFill>
                <a:latin typeface="Calibri"/>
              </a:rPr>
              <a:t>Luxury takeaway tokens and local souvenirs, custom-monogrammed packaging and curated welcome baskets.</a:t>
            </a:r>
          </a:p>
        </p:txBody>
      </p:sp>
      <p:pic>
        <p:nvPicPr>
          <p:cNvPr id="20" name="Picture 19" descr="acc-reception.png"/>
          <p:cNvPicPr>
            <a:picLocks noChangeAspect="1"/>
          </p:cNvPicPr>
          <p:nvPr/>
        </p:nvPicPr>
        <p:blipFill>
          <a:blip r:embed="rId2"/>
          <a:srcRect l="12921" r="1292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BEYOND WEDDINGS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Celebrations of every kind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5212080" cy="228600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73152" cy="228600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D78B"/>
                </a:solidFill>
                <a:latin typeface="Georgia"/>
              </a:rPr>
              <a:t>Birthday Party Decorations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6DF"/>
                </a:solidFill>
                <a:latin typeface="Calibri"/>
              </a:rPr>
              <a:t>Sparkling, colourful set-ups that turn any milestone into a stunning, memorable celebration for the whole family.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2011680"/>
            <a:ext cx="5212080" cy="228600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2011680"/>
            <a:ext cx="73152" cy="228600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D78B"/>
                </a:solidFill>
                <a:latin typeface="Georgia"/>
              </a:rPr>
              <a:t>Corporate Event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97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6DF"/>
                </a:solidFill>
                <a:latin typeface="Calibri"/>
              </a:rPr>
              <a:t>Complete corporate planning — styling, theming, entertainment and audio-visual — delivered end to end, on brief and on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C8B98E"/>
                </a:solidFill>
                <a:latin typeface="Calibri"/>
              </a:rPr>
              <a:t>Also: cocktail evenings · bachelor &amp; bachelorette parties · anniversaries · private soirées.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OUR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Powered by a Wedding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FF6DF"/>
                </a:solidFill>
                <a:latin typeface="Calibri"/>
              </a:rPr>
              <a:t>What you approve is exactly what we build. Every Spark celebration is planned on a connected design platform — not sketched on napkins.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88920"/>
            <a:ext cx="2468880" cy="155448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8D78B"/>
                </a:solidFill>
                <a:latin typeface="Georgia"/>
              </a:rPr>
              <a:t>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8B98E"/>
                </a:solidFill>
                <a:latin typeface="Calibri"/>
              </a:rPr>
              <a:t>design surfaces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2788920"/>
            <a:ext cx="2468880" cy="155448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8D78B"/>
                </a:solidFill>
                <a:latin typeface="Georgia"/>
              </a:rPr>
              <a:t>1,441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8B98E"/>
                </a:solidFill>
                <a:latin typeface="Calibri"/>
              </a:rPr>
              <a:t>knowledge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2788920"/>
            <a:ext cx="2468880" cy="155448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8D78B"/>
                </a:solidFill>
                <a:latin typeface="Georgia"/>
              </a:rPr>
              <a:t>4,539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8B98E"/>
                </a:solidFill>
                <a:latin typeface="Calibri"/>
              </a:rPr>
              <a:t>linked relations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2788920"/>
            <a:ext cx="2468880" cy="155448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8D78B"/>
                </a:solidFill>
                <a:latin typeface="Georgia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8B98E"/>
                </a:solidFill>
                <a:latin typeface="Calibri"/>
              </a:rPr>
              <a:t>board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6DF"/>
                </a:solidFill>
                <a:latin typeface="Calibri"/>
              </a:rPr>
              <a:t>•  AI design co-pilot for ideas &amp;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6DF"/>
                </a:solidFill>
                <a:latin typeface="Calibri"/>
              </a:rPr>
              <a:t>•  3D / CAD studios for true-to-scale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7725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6DF"/>
                </a:solidFill>
                <a:latin typeface="Calibri"/>
              </a:rPr>
              <a:t>•  Board Composer for client-ready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613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6DF"/>
                </a:solidFill>
                <a:latin typeface="Calibri"/>
              </a:rPr>
              <a:t>•  Vedi &amp; Muhurat intelligence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From first call to final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3474720" cy="146304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9AA46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8B98E"/>
                </a:solidFill>
                <a:latin typeface="Calibri"/>
              </a:rPr>
              <a:t>Vision, guest count, dates,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3474720" cy="146304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9AA46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8B98E"/>
                </a:solidFill>
                <a:latin typeface="Calibri"/>
              </a:rPr>
              <a:t>Venue, mandap, décor and lighting to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2011680"/>
            <a:ext cx="3474720" cy="146304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9AA46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8B98E"/>
                </a:solidFill>
                <a:latin typeface="Calibri"/>
              </a:rPr>
              <a:t>Vendors, timeline, logistics and muhurat.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49039"/>
            <a:ext cx="3474720" cy="146304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9AA46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8B98E"/>
                </a:solidFill>
                <a:latin typeface="Calibri"/>
              </a:rPr>
              <a:t>Fabrication, crews, call sheets, delivery.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3749039"/>
            <a:ext cx="3474720" cy="146304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9AA46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8B98E"/>
                </a:solidFill>
                <a:latin typeface="Calibri"/>
              </a:rPr>
              <a:t>Pre-wedding through full wedding film.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7888" y="3749039"/>
            <a:ext cx="3474720" cy="1463040"/>
          </a:xfrm>
          <a:prstGeom prst="rect">
            <a:avLst/>
          </a:prstGeom>
          <a:solidFill>
            <a:srgbClr val="102420"/>
          </a:solidFill>
          <a:ln w="952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9AA46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D78B"/>
                </a:solidFill>
                <a:latin typeface="Georgia"/>
              </a:rPr>
              <a:t>Celebrate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8B98E"/>
                </a:solidFill>
                <a:latin typeface="Calibri"/>
              </a:rPr>
              <a:t>We run the day; you live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Recent celebrations</a:t>
            </a:r>
          </a:p>
        </p:txBody>
      </p:sp>
      <p:pic>
        <p:nvPicPr>
          <p:cNvPr id="4" name="Picture 3" descr="acc-reception.png"/>
          <p:cNvPicPr>
            <a:picLocks noChangeAspect="1"/>
          </p:cNvPicPr>
          <p:nvPr/>
        </p:nvPicPr>
        <p:blipFill>
          <a:blip r:embed="rId2"/>
          <a:srcRect l="5772" r="5772"/>
          <a:stretch>
            <a:fillRect/>
          </a:stretch>
        </p:blipFill>
        <p:spPr>
          <a:xfrm>
            <a:off x="841248" y="1965960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5" name="Picture 4" descr="g2-floral-wall.png"/>
          <p:cNvPicPr>
            <a:picLocks noChangeAspect="1"/>
          </p:cNvPicPr>
          <p:nvPr/>
        </p:nvPicPr>
        <p:blipFill>
          <a:blip r:embed="rId3"/>
          <a:srcRect l="16659" r="16659"/>
          <a:stretch>
            <a:fillRect/>
          </a:stretch>
        </p:blipFill>
        <p:spPr>
          <a:xfrm>
            <a:off x="3502152" y="1965960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6" name="Picture 5" descr="g3-banquet.png"/>
          <p:cNvPicPr>
            <a:picLocks noChangeAspect="1"/>
          </p:cNvPicPr>
          <p:nvPr/>
        </p:nvPicPr>
        <p:blipFill>
          <a:blip r:embed="rId4"/>
          <a:srcRect l="5813" r="5813"/>
          <a:stretch>
            <a:fillRect/>
          </a:stretch>
        </p:blipFill>
        <p:spPr>
          <a:xfrm>
            <a:off x="6163056" y="1965960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7" name="Picture 6" descr="g4-golden-dining.png"/>
          <p:cNvPicPr>
            <a:picLocks noChangeAspect="1"/>
          </p:cNvPicPr>
          <p:nvPr/>
        </p:nvPicPr>
        <p:blipFill>
          <a:blip r:embed="rId5"/>
          <a:srcRect l="5902" r="5902"/>
          <a:stretch>
            <a:fillRect/>
          </a:stretch>
        </p:blipFill>
        <p:spPr>
          <a:xfrm>
            <a:off x="8823960" y="1965960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8" name="Picture 7" descr="g5-lawn-arch.png"/>
          <p:cNvPicPr>
            <a:picLocks noChangeAspect="1"/>
          </p:cNvPicPr>
          <p:nvPr/>
        </p:nvPicPr>
        <p:blipFill>
          <a:blip r:embed="rId6"/>
          <a:srcRect l="5724" r="5724"/>
          <a:stretch>
            <a:fillRect/>
          </a:stretch>
        </p:blipFill>
        <p:spPr>
          <a:xfrm>
            <a:off x="841248" y="4041648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9" name="Picture 8" descr="g6-mandap-night.png"/>
          <p:cNvPicPr>
            <a:picLocks noChangeAspect="1"/>
          </p:cNvPicPr>
          <p:nvPr/>
        </p:nvPicPr>
        <p:blipFill>
          <a:blip r:embed="rId7"/>
          <a:srcRect l="5815" r="5815"/>
          <a:stretch>
            <a:fillRect/>
          </a:stretch>
        </p:blipFill>
        <p:spPr>
          <a:xfrm>
            <a:off x="3502152" y="4041648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10" name="Picture 9" descr="g7-outdoor-stage.png"/>
          <p:cNvPicPr>
            <a:picLocks noChangeAspect="1"/>
          </p:cNvPicPr>
          <p:nvPr/>
        </p:nvPicPr>
        <p:blipFill>
          <a:blip r:embed="rId8"/>
          <a:srcRect l="5688" r="5688"/>
          <a:stretch>
            <a:fillRect/>
          </a:stretch>
        </p:blipFill>
        <p:spPr>
          <a:xfrm>
            <a:off x="6163056" y="4041648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pic>
        <p:nvPicPr>
          <p:cNvPr id="11" name="Picture 10" descr="g8-floral-lights.png"/>
          <p:cNvPicPr>
            <a:picLocks noChangeAspect="1"/>
          </p:cNvPicPr>
          <p:nvPr/>
        </p:nvPicPr>
        <p:blipFill>
          <a:blip r:embed="rId9"/>
          <a:srcRect l="5821" r="5821"/>
          <a:stretch>
            <a:fillRect/>
          </a:stretch>
        </p:blipFill>
        <p:spPr>
          <a:xfrm>
            <a:off x="8823960" y="4041648"/>
            <a:ext cx="2487168" cy="1874519"/>
          </a:xfrm>
          <a:prstGeom prst="rect">
            <a:avLst/>
          </a:prstGeom>
          <a:ln w="12700">
            <a:solidFill>
              <a:srgbClr val="D9AA4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A46"/>
                </a:solidFill>
                <a:latin typeface="Calibri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D78B"/>
                </a:solidFill>
                <a:latin typeface="Georgia"/>
              </a:rPr>
              <a:t>The wow factor,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F8D78B"/>
                </a:solidFill>
                <a:latin typeface="Georgia"/>
              </a:rPr>
              <a:t>“We aim to provide every detail touch to your rituals and imbibe the wow factor — to make it look simple yet elegant.”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6DF"/>
                </a:solidFill>
                <a:latin typeface="Calibri"/>
              </a:rPr>
              <a:t>One team. One accountable plan. A flawless, unforgettable celebration from start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B98E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D9A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90007" y="2103120"/>
            <a:ext cx="2011680" cy="2286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8D78B"/>
                </a:solidFill>
                <a:latin typeface="Georgia"/>
              </a:rPr>
              <a:t>Let's create your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6DF"/>
                </a:solidFill>
                <a:latin typeface="Calibri"/>
              </a:rPr>
              <a:t>SPARK PLANNERS  ·  Sanjeeta Khaira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C8B98E"/>
                </a:solidFill>
                <a:latin typeface="Calibri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8D78B"/>
                </a:solidFill>
                <a:latin typeface="Calibri"/>
              </a:rPr>
              <a:t>tentnmore@gmail.com    ·    +91 95402 30027    ·    www.tentnmore.in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257800"/>
            <a:ext cx="2011680" cy="22860"/>
          </a:xfrm>
          <a:prstGeom prst="rect">
            <a:avLst/>
          </a:prstGeom>
          <a:solidFill>
            <a:srgbClr val="D9A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