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4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2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11480"/>
            <a:ext cx="11368735" cy="6035040"/>
          </a:xfrm>
          <a:prstGeom prst="rect">
            <a:avLst/>
          </a:prstGeom>
          <a:noFill/>
          <a:ln w="15875">
            <a:solidFill>
              <a:srgbClr val="E0B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66928"/>
            <a:ext cx="11057839" cy="5724144"/>
          </a:xfrm>
          <a:prstGeom prst="rect">
            <a:avLst/>
          </a:prstGeom>
          <a:noFill/>
          <a:ln w="6350">
            <a:solidFill>
              <a:srgbClr val="E0B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41732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E0B65A"/>
                </a:solidFill>
                <a:latin typeface="Calibri"/>
              </a:rPr>
              <a:t>LUXURY WEDDINGS &amp; EVENTS · DESIGN TO DELIVERY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90007" y="2011680"/>
            <a:ext cx="2011680" cy="22860"/>
          </a:xfrm>
          <a:prstGeom prst="rect">
            <a:avLst/>
          </a:prstGeom>
          <a:solidFill>
            <a:srgbClr val="E0B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46888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600" b="1" i="0">
                <a:solidFill>
                  <a:srgbClr val="F6DC97"/>
                </a:solidFill>
                <a:latin typeface="Georgia"/>
              </a:rPr>
              <a:t>SPARK PLANNERS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61188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 i="1">
                <a:solidFill>
                  <a:srgbClr val="F2EEDD"/>
                </a:solidFill>
                <a:latin typeface="Georgia"/>
              </a:rPr>
              <a:t>in association with TentnMore Event Planners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34340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1">
                <a:solidFill>
                  <a:srgbClr val="F2EEDD"/>
                </a:solidFill>
                <a:latin typeface="Calibri"/>
              </a:rPr>
              <a:t>Designing unforgettable celebrations — plan · design · film · execute.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90007" y="5029200"/>
            <a:ext cx="2011680" cy="22860"/>
          </a:xfrm>
          <a:prstGeom prst="rect">
            <a:avLst/>
          </a:prstGeom>
          <a:solidFill>
            <a:srgbClr val="E0B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530352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AEC1A6"/>
                </a:solidFill>
                <a:latin typeface="Calibri"/>
              </a:rPr>
              <a:t>COMPANY PROFILE &amp; SERVICES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2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0B65A"/>
                </a:solidFill>
                <a:latin typeface="Calibri"/>
              </a:rPr>
              <a:t>WHO WE 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86868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6DC97"/>
                </a:solidFill>
                <a:latin typeface="Georgia"/>
              </a:rPr>
              <a:t>We don't just plan weddings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965960"/>
            <a:ext cx="594360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0" i="0">
                <a:solidFill>
                  <a:srgbClr val="F2EEDD"/>
                </a:solidFill>
                <a:latin typeface="Calibri"/>
              </a:rPr>
              <a:t>We bring your unique love story to life. Every detail reflects your personality, style and dreams — so you can manage nothing and enjoy every single moment.</a:t>
            </a:r>
          </a:p>
          <a:p>
            <a:pPr algn="l">
              <a:lnSpc>
                <a:spcPct val="118000"/>
              </a:lnSpc>
            </a:pPr>
            <a:r>
              <a:rPr sz="1600" b="0" i="0">
                <a:solidFill>
                  <a:srgbClr val="F2EEDD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600" b="0" i="0">
                <a:solidFill>
                  <a:srgbClr val="F2EEDD"/>
                </a:solidFill>
                <a:latin typeface="Calibri"/>
              </a:rPr>
              <a:t>Spark Planners pairs design-led, technology-enabled planning with TentnMore's full-service execution across Delhi/NCR and destinations nationwide. From first concept to the final frame, one accountable team owns your celebration.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7086600" y="2011680"/>
            <a:ext cx="4251960" cy="960120"/>
          </a:xfrm>
          <a:prstGeom prst="rect">
            <a:avLst/>
          </a:prstGeom>
          <a:solidFill>
            <a:srgbClr val="0A3B29"/>
          </a:solidFill>
          <a:ln w="9525">
            <a:solidFill>
              <a:srgbClr val="E0B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0" y="2148840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6DC97"/>
                </a:solidFill>
                <a:latin typeface="Georgia"/>
              </a:rPr>
              <a:t>Design-led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2523744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EC1A6"/>
                </a:solidFill>
                <a:latin typeface="Calibri"/>
              </a:rPr>
              <a:t>Every element drawn to scale before it is built.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086600" y="3108960"/>
            <a:ext cx="4251960" cy="960120"/>
          </a:xfrm>
          <a:prstGeom prst="rect">
            <a:avLst/>
          </a:prstGeom>
          <a:solidFill>
            <a:srgbClr val="0A3B29"/>
          </a:solidFill>
          <a:ln w="9525">
            <a:solidFill>
              <a:srgbClr val="E0B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0" y="3246120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6DC97"/>
                </a:solidFill>
                <a:latin typeface="Georgia"/>
              </a:rPr>
              <a:t>Full-service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3621024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EC1A6"/>
                </a:solidFill>
                <a:latin typeface="Calibri"/>
              </a:rPr>
              <a:t>Décor, films, catering, logistics — under one roof.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86600" y="4206240"/>
            <a:ext cx="4251960" cy="960120"/>
          </a:xfrm>
          <a:prstGeom prst="rect">
            <a:avLst/>
          </a:prstGeom>
          <a:solidFill>
            <a:srgbClr val="0A3B29"/>
          </a:solidFill>
          <a:ln w="9525">
            <a:solidFill>
              <a:srgbClr val="E0B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0" y="4343400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6DC97"/>
                </a:solidFill>
                <a:latin typeface="Georgia"/>
              </a:rPr>
              <a:t>On the ground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4718304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EC1A6"/>
                </a:solidFill>
                <a:latin typeface="Calibri"/>
              </a:rPr>
              <a:t>Seasoned Delhi/NCR execution, calm and flawless.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641908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AEC1A6"/>
                </a:solidFill>
                <a:latin typeface="Calibri"/>
              </a:rPr>
              <a:t>Spark Planners · in association with TentnMore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3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0B65A"/>
                </a:solidFill>
                <a:latin typeface="Calibri"/>
              </a:rPr>
              <a:t>THE PARTNERSHIP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86868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6DC97"/>
                </a:solidFill>
                <a:latin typeface="Georgia"/>
              </a:rPr>
              <a:t>Two studios, one seamless team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965960"/>
            <a:ext cx="5212080" cy="3749039"/>
          </a:xfrm>
          <a:prstGeom prst="rect">
            <a:avLst/>
          </a:prstGeom>
          <a:solidFill>
            <a:srgbClr val="0A3B29"/>
          </a:solidFill>
          <a:ln w="9525">
            <a:solidFill>
              <a:srgbClr val="E0B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" y="1965960"/>
            <a:ext cx="73152" cy="3749039"/>
          </a:xfrm>
          <a:prstGeom prst="rect">
            <a:avLst/>
          </a:prstGeom>
          <a:solidFill>
            <a:srgbClr val="E0B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" y="219456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F6DC97"/>
                </a:solidFill>
                <a:latin typeface="Georgia"/>
              </a:rPr>
              <a:t>Spark Planners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" y="2697480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0B65A"/>
                </a:solidFill>
                <a:latin typeface="Calibri"/>
              </a:rPr>
              <a:t>DESIGN &amp;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" y="3154680"/>
            <a:ext cx="46634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F2EEDD"/>
                </a:solidFill>
                <a:latin typeface="Calibri"/>
              </a:rPr>
              <a:t>Architecture-grade design of venue, mandap, décor and lighting — drawn to scale, previewed in 3D, and presented as client-ready boards. In-house films capture every moment.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73368" y="1965960"/>
            <a:ext cx="5212080" cy="3749039"/>
          </a:xfrm>
          <a:prstGeom prst="rect">
            <a:avLst/>
          </a:prstGeom>
          <a:solidFill>
            <a:srgbClr val="0A3B29"/>
          </a:solidFill>
          <a:ln w="9525">
            <a:solidFill>
              <a:srgbClr val="E0B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73368" y="1965960"/>
            <a:ext cx="73152" cy="3749039"/>
          </a:xfrm>
          <a:prstGeom prst="rect">
            <a:avLst/>
          </a:prstGeom>
          <a:solidFill>
            <a:srgbClr val="E0B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65976" y="219456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F6DC97"/>
                </a:solidFill>
                <a:latin typeface="Georgia"/>
              </a:rPr>
              <a:t>TentnMore Event Planners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65976" y="2697480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0B65A"/>
                </a:solidFill>
                <a:latin typeface="Calibri"/>
              </a:rPr>
              <a:t>EXECUTION &amp; HOSPITALITY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65976" y="3154680"/>
            <a:ext cx="46634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F2EEDD"/>
                </a:solidFill>
                <a:latin typeface="Calibri"/>
              </a:rPr>
              <a:t>Delhi/NCR's full-service event house: vendors, fabrication, catering, logistics and on-ground delivery, with a proven portfolio across weddings, parties and corporate events.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641908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AEC1A6"/>
                </a:solidFill>
                <a:latin typeface="Calibri"/>
              </a:rPr>
              <a:t>Spark Planners · in association with TentnMore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2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0B65A"/>
                </a:solidFill>
                <a:latin typeface="Calibri"/>
              </a:rPr>
              <a:t>WHAT WE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86868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6DC97"/>
                </a:solidFill>
                <a:latin typeface="Georgia"/>
              </a:rPr>
              <a:t>Full-service, end to 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2011680"/>
            <a:ext cx="2542032" cy="1508760"/>
          </a:xfrm>
          <a:prstGeom prst="rect">
            <a:avLst/>
          </a:prstGeom>
          <a:solidFill>
            <a:srgbClr val="0A3B29"/>
          </a:solidFill>
          <a:ln w="9525">
            <a:solidFill>
              <a:srgbClr val="E0B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" y="2011680"/>
            <a:ext cx="2542032" cy="73152"/>
          </a:xfrm>
          <a:prstGeom prst="rect">
            <a:avLst/>
          </a:prstGeom>
          <a:solidFill>
            <a:srgbClr val="E0B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6" y="2286000"/>
            <a:ext cx="213969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F6DC97"/>
                </a:solidFill>
                <a:latin typeface="Georgia"/>
              </a:rPr>
              <a:t>Planning &amp; Coordination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21024" y="2011680"/>
            <a:ext cx="2542032" cy="1508760"/>
          </a:xfrm>
          <a:prstGeom prst="rect">
            <a:avLst/>
          </a:prstGeom>
          <a:solidFill>
            <a:srgbClr val="0A3B29"/>
          </a:solidFill>
          <a:ln w="9525">
            <a:solidFill>
              <a:srgbClr val="E0B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21024" y="2011680"/>
            <a:ext cx="2542032" cy="73152"/>
          </a:xfrm>
          <a:prstGeom prst="rect">
            <a:avLst/>
          </a:prstGeom>
          <a:solidFill>
            <a:srgbClr val="E0B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22191" y="2286000"/>
            <a:ext cx="213969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F6DC97"/>
                </a:solidFill>
                <a:latin typeface="Georgia"/>
              </a:rPr>
              <a:t>Ceremonies &amp; Functions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011680"/>
            <a:ext cx="2542032" cy="1508760"/>
          </a:xfrm>
          <a:prstGeom prst="rect">
            <a:avLst/>
          </a:prstGeom>
          <a:solidFill>
            <a:srgbClr val="0A3B29"/>
          </a:solidFill>
          <a:ln w="9525">
            <a:solidFill>
              <a:srgbClr val="E0B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2011680"/>
            <a:ext cx="2542032" cy="73152"/>
          </a:xfrm>
          <a:prstGeom prst="rect">
            <a:avLst/>
          </a:prstGeom>
          <a:solidFill>
            <a:srgbClr val="E0B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1968" y="2286000"/>
            <a:ext cx="213969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F6DC97"/>
                </a:solidFill>
                <a:latin typeface="Georgia"/>
              </a:rPr>
              <a:t>Design, Décor &amp; Florals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80576" y="2011680"/>
            <a:ext cx="2542032" cy="1508760"/>
          </a:xfrm>
          <a:prstGeom prst="rect">
            <a:avLst/>
          </a:prstGeom>
          <a:solidFill>
            <a:srgbClr val="0A3B29"/>
          </a:solidFill>
          <a:ln w="9525">
            <a:solidFill>
              <a:srgbClr val="E0B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80576" y="2011680"/>
            <a:ext cx="2542032" cy="73152"/>
          </a:xfrm>
          <a:prstGeom prst="rect">
            <a:avLst/>
          </a:prstGeom>
          <a:solidFill>
            <a:srgbClr val="E0B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81744" y="2286000"/>
            <a:ext cx="213969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F6DC97"/>
                </a:solidFill>
                <a:latin typeface="Georgia"/>
              </a:rPr>
              <a:t>Catering, Menu &amp; Cake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" y="3794760"/>
            <a:ext cx="2542032" cy="1508760"/>
          </a:xfrm>
          <a:prstGeom prst="rect">
            <a:avLst/>
          </a:prstGeom>
          <a:solidFill>
            <a:srgbClr val="0A3B29"/>
          </a:solidFill>
          <a:ln w="9525">
            <a:solidFill>
              <a:srgbClr val="E0B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1248" y="3794760"/>
            <a:ext cx="2542032" cy="73152"/>
          </a:xfrm>
          <a:prstGeom prst="rect">
            <a:avLst/>
          </a:prstGeom>
          <a:solidFill>
            <a:srgbClr val="E0B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2416" y="4069080"/>
            <a:ext cx="213969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F6DC97"/>
                </a:solidFill>
                <a:latin typeface="Georgia"/>
              </a:rPr>
              <a:t>Films &amp; Photography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21024" y="3794760"/>
            <a:ext cx="2542032" cy="1508760"/>
          </a:xfrm>
          <a:prstGeom prst="rect">
            <a:avLst/>
          </a:prstGeom>
          <a:solidFill>
            <a:srgbClr val="0A3B29"/>
          </a:solidFill>
          <a:ln w="9525">
            <a:solidFill>
              <a:srgbClr val="E0B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21024" y="3794760"/>
            <a:ext cx="2542032" cy="73152"/>
          </a:xfrm>
          <a:prstGeom prst="rect">
            <a:avLst/>
          </a:prstGeom>
          <a:solidFill>
            <a:srgbClr val="E0B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22191" y="4069080"/>
            <a:ext cx="213969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F6DC97"/>
                </a:solidFill>
                <a:latin typeface="Georgia"/>
              </a:rPr>
              <a:t>Entertainment &amp; Choreography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3794760"/>
            <a:ext cx="2542032" cy="1508760"/>
          </a:xfrm>
          <a:prstGeom prst="rect">
            <a:avLst/>
          </a:prstGeom>
          <a:solidFill>
            <a:srgbClr val="0A3B29"/>
          </a:solidFill>
          <a:ln w="9525">
            <a:solidFill>
              <a:srgbClr val="E0B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0" y="3794760"/>
            <a:ext cx="2542032" cy="73152"/>
          </a:xfrm>
          <a:prstGeom prst="rect">
            <a:avLst/>
          </a:prstGeom>
          <a:solidFill>
            <a:srgbClr val="E0B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01968" y="4069080"/>
            <a:ext cx="213969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F6DC97"/>
                </a:solidFill>
                <a:latin typeface="Georgia"/>
              </a:rPr>
              <a:t>Guest Experience &amp; Logistics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80576" y="3794760"/>
            <a:ext cx="2542032" cy="1508760"/>
          </a:xfrm>
          <a:prstGeom prst="rect">
            <a:avLst/>
          </a:prstGeom>
          <a:solidFill>
            <a:srgbClr val="0A3B29"/>
          </a:solidFill>
          <a:ln w="9525">
            <a:solidFill>
              <a:srgbClr val="E0B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80576" y="3794760"/>
            <a:ext cx="2542032" cy="73152"/>
          </a:xfrm>
          <a:prstGeom prst="rect">
            <a:avLst/>
          </a:prstGeom>
          <a:solidFill>
            <a:srgbClr val="E0B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81744" y="4069080"/>
            <a:ext cx="213969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F6DC97"/>
                </a:solidFill>
                <a:latin typeface="Georgia"/>
              </a:rPr>
              <a:t>Beyond Weddings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" y="641908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AEC1A6"/>
                </a:solidFill>
                <a:latin typeface="Calibri"/>
              </a:rPr>
              <a:t>Spark Planners · in association with TentnMore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3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0B65A"/>
                </a:solidFill>
                <a:latin typeface="Calibri"/>
              </a:rPr>
              <a:t>PLANNING &amp; COORDINATION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86868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6DC97"/>
                </a:solidFill>
                <a:latin typeface="Georgia"/>
              </a:rPr>
              <a:t>From scouting to seamless logistics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965960"/>
            <a:ext cx="5715000" cy="845820"/>
          </a:xfrm>
          <a:prstGeom prst="rect">
            <a:avLst/>
          </a:prstGeom>
          <a:solidFill>
            <a:srgbClr val="0A3B29"/>
          </a:solidFill>
          <a:ln w="7620">
            <a:solidFill>
              <a:srgbClr val="E0B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" y="1965960"/>
            <a:ext cx="64008" cy="845820"/>
          </a:xfrm>
          <a:prstGeom prst="rect">
            <a:avLst/>
          </a:prstGeom>
          <a:solidFill>
            <a:srgbClr val="E0B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84831"/>
            <a:ext cx="5257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6DC97"/>
                </a:solidFill>
                <a:latin typeface="Georgia"/>
              </a:rPr>
              <a:t>Destination Wedding Scouting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41448"/>
            <a:ext cx="5257800" cy="388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AEC1A6"/>
                </a:solidFill>
                <a:latin typeface="Calibri"/>
              </a:rPr>
              <a:t>Breathtaking backdrops countrywide, with guest travel, stay and local legal compliance handled by our concierge.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2994660"/>
            <a:ext cx="5715000" cy="845820"/>
          </a:xfrm>
          <a:prstGeom prst="rect">
            <a:avLst/>
          </a:prstGeom>
          <a:solidFill>
            <a:srgbClr val="0A3B29"/>
          </a:solidFill>
          <a:ln w="7620">
            <a:solidFill>
              <a:srgbClr val="E0B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1248" y="2994660"/>
            <a:ext cx="64008" cy="845820"/>
          </a:xfrm>
          <a:prstGeom prst="rect">
            <a:avLst/>
          </a:prstGeom>
          <a:solidFill>
            <a:srgbClr val="E0B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113532"/>
            <a:ext cx="5257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6DC97"/>
                </a:solidFill>
                <a:latin typeface="Georgia"/>
              </a:rPr>
              <a:t>Wedding Venue Selection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470148"/>
            <a:ext cx="5257800" cy="388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AEC1A6"/>
                </a:solidFill>
                <a:latin typeface="Calibri"/>
              </a:rPr>
              <a:t>Ideal spaces matched to you, virtual or in-person site visits, and negotiated premium rates with optimised layouts.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4023360"/>
            <a:ext cx="5715000" cy="845820"/>
          </a:xfrm>
          <a:prstGeom prst="rect">
            <a:avLst/>
          </a:prstGeom>
          <a:solidFill>
            <a:srgbClr val="0A3B29"/>
          </a:solidFill>
          <a:ln w="7620">
            <a:solidFill>
              <a:srgbClr val="E0B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8" y="4023360"/>
            <a:ext cx="64008" cy="845820"/>
          </a:xfrm>
          <a:prstGeom prst="rect">
            <a:avLst/>
          </a:prstGeom>
          <a:solidFill>
            <a:srgbClr val="E0B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142232"/>
            <a:ext cx="5257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6DC97"/>
                </a:solidFill>
                <a:latin typeface="Georgia"/>
              </a:rPr>
              <a:t>Event Timeline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498848"/>
            <a:ext cx="5257800" cy="388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AEC1A6"/>
                </a:solidFill>
                <a:latin typeface="Calibri"/>
              </a:rPr>
              <a:t>A master blueprint with minute-by-minute schedules and built-in buffers to keep every vendor team in sync.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" y="5052060"/>
            <a:ext cx="5715000" cy="845820"/>
          </a:xfrm>
          <a:prstGeom prst="rect">
            <a:avLst/>
          </a:prstGeom>
          <a:solidFill>
            <a:srgbClr val="0A3B29"/>
          </a:solidFill>
          <a:ln w="7620">
            <a:solidFill>
              <a:srgbClr val="E0B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1248" y="5052060"/>
            <a:ext cx="64008" cy="845820"/>
          </a:xfrm>
          <a:prstGeom prst="rect">
            <a:avLst/>
          </a:prstGeom>
          <a:solidFill>
            <a:srgbClr val="E0B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5170932"/>
            <a:ext cx="5257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6DC97"/>
                </a:solidFill>
                <a:latin typeface="Georgia"/>
              </a:rPr>
              <a:t>Logistics, Hospitality &amp; Transport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527548"/>
            <a:ext cx="5257800" cy="388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AEC1A6"/>
                </a:solidFill>
                <a:latin typeface="Calibri"/>
              </a:rPr>
              <a:t>A premium fleet, airport welcome desks, luggage-tagged check-ins and 24/7 on-site guest support.</a:t>
            </a:r>
          </a:p>
        </p:txBody>
      </p:sp>
      <p:pic>
        <p:nvPicPr>
          <p:cNvPr id="20" name="Picture 19" descr="acc-venue-wide.png"/>
          <p:cNvPicPr>
            <a:picLocks noChangeAspect="1"/>
          </p:cNvPicPr>
          <p:nvPr/>
        </p:nvPicPr>
        <p:blipFill>
          <a:blip r:embed="rId2"/>
          <a:srcRect l="26347" r="26347"/>
          <a:stretch>
            <a:fillRect/>
          </a:stretch>
        </p:blipFill>
        <p:spPr>
          <a:xfrm>
            <a:off x="6812280" y="1965960"/>
            <a:ext cx="4526280" cy="4069080"/>
          </a:xfrm>
          <a:prstGeom prst="rect">
            <a:avLst/>
          </a:prstGeom>
          <a:ln w="12700">
            <a:solidFill>
              <a:srgbClr val="E0B65A"/>
            </a:solidFill>
          </a:ln>
        </p:spPr>
      </p:pic>
      <p:sp>
        <p:nvSpPr>
          <p:cNvPr id="21" name="TextBox 20"/>
          <p:cNvSpPr txBox="1"/>
          <p:nvPr/>
        </p:nvSpPr>
        <p:spPr>
          <a:xfrm>
            <a:off x="841248" y="641908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AEC1A6"/>
                </a:solidFill>
                <a:latin typeface="Calibri"/>
              </a:rPr>
              <a:t>Spark Planners · in association with TentnMore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2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0B65A"/>
                </a:solidFill>
                <a:latin typeface="Calibri"/>
              </a:rPr>
              <a:t>CEREMONIES &amp;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86868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6DC97"/>
                </a:solidFill>
                <a:latin typeface="Georgia"/>
              </a:rPr>
              <a:t>Every ritual, beautifully staged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965960"/>
            <a:ext cx="5715000" cy="845820"/>
          </a:xfrm>
          <a:prstGeom prst="rect">
            <a:avLst/>
          </a:prstGeom>
          <a:solidFill>
            <a:srgbClr val="0A3B29"/>
          </a:solidFill>
          <a:ln w="7620">
            <a:solidFill>
              <a:srgbClr val="E0B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" y="1965960"/>
            <a:ext cx="64008" cy="845820"/>
          </a:xfrm>
          <a:prstGeom prst="rect">
            <a:avLst/>
          </a:prstGeom>
          <a:solidFill>
            <a:srgbClr val="E0B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84831"/>
            <a:ext cx="5257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6DC97"/>
                </a:solidFill>
                <a:latin typeface="Georgia"/>
              </a:rPr>
              <a:t>Proposal Planning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41448"/>
            <a:ext cx="5257800" cy="388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AEC1A6"/>
                </a:solidFill>
                <a:latin typeface="Calibri"/>
              </a:rPr>
              <a:t>Bespoke surprise concepts with secret locations, hidden cameras, music, flowers and flawless timing.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2994660"/>
            <a:ext cx="5715000" cy="845820"/>
          </a:xfrm>
          <a:prstGeom prst="rect">
            <a:avLst/>
          </a:prstGeom>
          <a:solidFill>
            <a:srgbClr val="0A3B29"/>
          </a:solidFill>
          <a:ln w="7620">
            <a:solidFill>
              <a:srgbClr val="E0B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1248" y="2994660"/>
            <a:ext cx="64008" cy="845820"/>
          </a:xfrm>
          <a:prstGeom prst="rect">
            <a:avLst/>
          </a:prstGeom>
          <a:solidFill>
            <a:srgbClr val="E0B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113532"/>
            <a:ext cx="5257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6DC97"/>
                </a:solidFill>
                <a:latin typeface="Georgia"/>
              </a:rPr>
              <a:t>Mehandi · Haldi · Sangeet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470148"/>
            <a:ext cx="5257800" cy="388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AEC1A6"/>
                </a:solidFill>
                <a:latin typeface="Calibri"/>
              </a:rPr>
              <a:t>Sacred family rituals with festive, high-octane energy, bold palettes and interactive stalls like lac bangles and chaat.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4023360"/>
            <a:ext cx="5715000" cy="845820"/>
          </a:xfrm>
          <a:prstGeom prst="rect">
            <a:avLst/>
          </a:prstGeom>
          <a:solidFill>
            <a:srgbClr val="0A3B29"/>
          </a:solidFill>
          <a:ln w="7620">
            <a:solidFill>
              <a:srgbClr val="E0B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8" y="4023360"/>
            <a:ext cx="64008" cy="845820"/>
          </a:xfrm>
          <a:prstGeom prst="rect">
            <a:avLst/>
          </a:prstGeom>
          <a:solidFill>
            <a:srgbClr val="E0B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142232"/>
            <a:ext cx="5257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6DC97"/>
                </a:solidFill>
                <a:latin typeface="Georgia"/>
              </a:rPr>
              <a:t>Wedding &amp; Reception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498848"/>
            <a:ext cx="5257800" cy="388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AEC1A6"/>
                </a:solidFill>
                <a:latin typeface="Calibri"/>
              </a:rPr>
              <a:t>Serene ceremony altars, grand couple entries, and a seamless flow from speeches to after-party.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" y="5052060"/>
            <a:ext cx="5715000" cy="845820"/>
          </a:xfrm>
          <a:prstGeom prst="rect">
            <a:avLst/>
          </a:prstGeom>
          <a:solidFill>
            <a:srgbClr val="0A3B29"/>
          </a:solidFill>
          <a:ln w="7620">
            <a:solidFill>
              <a:srgbClr val="E0B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1248" y="5052060"/>
            <a:ext cx="64008" cy="845820"/>
          </a:xfrm>
          <a:prstGeom prst="rect">
            <a:avLst/>
          </a:prstGeom>
          <a:solidFill>
            <a:srgbClr val="E0B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5170932"/>
            <a:ext cx="5257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6DC97"/>
                </a:solidFill>
                <a:latin typeface="Georgia"/>
              </a:rPr>
              <a:t>Choreography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527548"/>
            <a:ext cx="5257800" cy="388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AEC1A6"/>
                </a:solidFill>
                <a:latin typeface="Calibri"/>
              </a:rPr>
              <a:t>Routines tailored to your skill level, energetic family mashups and stage blocking under the lights.</a:t>
            </a:r>
          </a:p>
        </p:txBody>
      </p:sp>
      <p:pic>
        <p:nvPicPr>
          <p:cNvPr id="20" name="Picture 19" descr="g7-outdoor-stage.png"/>
          <p:cNvPicPr>
            <a:picLocks noChangeAspect="1"/>
          </p:cNvPicPr>
          <p:nvPr/>
        </p:nvPicPr>
        <p:blipFill>
          <a:blip r:embed="rId2"/>
          <a:srcRect l="12851" r="12851"/>
          <a:stretch>
            <a:fillRect/>
          </a:stretch>
        </p:blipFill>
        <p:spPr>
          <a:xfrm>
            <a:off x="6812280" y="1965960"/>
            <a:ext cx="4526280" cy="4069080"/>
          </a:xfrm>
          <a:prstGeom prst="rect">
            <a:avLst/>
          </a:prstGeom>
          <a:ln w="12700">
            <a:solidFill>
              <a:srgbClr val="E0B65A"/>
            </a:solidFill>
          </a:ln>
        </p:spPr>
      </p:pic>
      <p:sp>
        <p:nvSpPr>
          <p:cNvPr id="21" name="TextBox 20"/>
          <p:cNvSpPr txBox="1"/>
          <p:nvPr/>
        </p:nvSpPr>
        <p:spPr>
          <a:xfrm>
            <a:off x="841248" y="641908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AEC1A6"/>
                </a:solidFill>
                <a:latin typeface="Calibri"/>
              </a:rPr>
              <a:t>Spark Planners · in association with TentnMore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3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0B65A"/>
                </a:solidFill>
                <a:latin typeface="Calibri"/>
              </a:rPr>
              <a:t>DESIGN, DÉCOR &amp; FLORALS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86868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6DC97"/>
                </a:solidFill>
                <a:latin typeface="Georgia"/>
              </a:rPr>
              <a:t>Visual storytelling, drawn to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965960"/>
            <a:ext cx="5715000" cy="1188720"/>
          </a:xfrm>
          <a:prstGeom prst="rect">
            <a:avLst/>
          </a:prstGeom>
          <a:solidFill>
            <a:srgbClr val="0A3B29"/>
          </a:solidFill>
          <a:ln w="7620">
            <a:solidFill>
              <a:srgbClr val="E0B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" y="1965960"/>
            <a:ext cx="64008" cy="1188720"/>
          </a:xfrm>
          <a:prstGeom prst="rect">
            <a:avLst/>
          </a:prstGeom>
          <a:solidFill>
            <a:srgbClr val="E0B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84831"/>
            <a:ext cx="5257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6DC97"/>
                </a:solidFill>
                <a:latin typeface="Georgia"/>
              </a:rPr>
              <a:t>Wedding Décor for All Functions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41448"/>
            <a:ext cx="5257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AEC1A6"/>
                </a:solidFill>
                <a:latin typeface="Calibri"/>
              </a:rPr>
              <a:t>Custom-fabricated stages and backdrops, immersive smart lighting, and premium linens, drapes and carpets.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3337560"/>
            <a:ext cx="5715000" cy="1188720"/>
          </a:xfrm>
          <a:prstGeom prst="rect">
            <a:avLst/>
          </a:prstGeom>
          <a:solidFill>
            <a:srgbClr val="0A3B29"/>
          </a:solidFill>
          <a:ln w="7620">
            <a:solidFill>
              <a:srgbClr val="E0B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1248" y="3337560"/>
            <a:ext cx="64008" cy="1188720"/>
          </a:xfrm>
          <a:prstGeom prst="rect">
            <a:avLst/>
          </a:prstGeom>
          <a:solidFill>
            <a:srgbClr val="E0B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456432"/>
            <a:ext cx="5257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6DC97"/>
                </a:solidFill>
                <a:latin typeface="Georgia"/>
              </a:rPr>
              <a:t>Flowers &amp; Bouquets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813048"/>
            <a:ext cx="5257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AEC1A6"/>
                </a:solidFill>
                <a:latin typeface="Calibri"/>
              </a:rPr>
              <a:t>Massive floral installations from rare, farm-sourced blooms, plus bouquets, boutonnieres, garlands and scent design.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4709160"/>
            <a:ext cx="5715000" cy="1188720"/>
          </a:xfrm>
          <a:prstGeom prst="rect">
            <a:avLst/>
          </a:prstGeom>
          <a:solidFill>
            <a:srgbClr val="0A3B29"/>
          </a:solidFill>
          <a:ln w="7620">
            <a:solidFill>
              <a:srgbClr val="E0B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8" y="4709160"/>
            <a:ext cx="64008" cy="1188720"/>
          </a:xfrm>
          <a:prstGeom prst="rect">
            <a:avLst/>
          </a:prstGeom>
          <a:solidFill>
            <a:srgbClr val="E0B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828032"/>
            <a:ext cx="5257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6DC97"/>
                </a:solidFill>
                <a:latin typeface="Georgia"/>
              </a:rPr>
              <a:t>Wedding Invitation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184648"/>
            <a:ext cx="5257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AEC1A6"/>
                </a:solidFill>
                <a:latin typeface="Calibri"/>
              </a:rPr>
              <a:t>Custom stationery suites, interactive digital websites, real-time RSVP tracking and gourmet invite hampers.</a:t>
            </a:r>
          </a:p>
        </p:txBody>
      </p:sp>
      <p:pic>
        <p:nvPicPr>
          <p:cNvPr id="16" name="Picture 15" descr="g2-floral-wall.png"/>
          <p:cNvPicPr>
            <a:picLocks noChangeAspect="1"/>
          </p:cNvPicPr>
          <p:nvPr/>
        </p:nvPicPr>
        <p:blipFill>
          <a:blip r:embed="rId2"/>
          <a:srcRect l="22048" r="22048"/>
          <a:stretch>
            <a:fillRect/>
          </a:stretch>
        </p:blipFill>
        <p:spPr>
          <a:xfrm>
            <a:off x="6812280" y="1965960"/>
            <a:ext cx="4526280" cy="4069080"/>
          </a:xfrm>
          <a:prstGeom prst="rect">
            <a:avLst/>
          </a:prstGeom>
          <a:ln w="12700">
            <a:solidFill>
              <a:srgbClr val="E0B65A"/>
            </a:solidFill>
          </a:ln>
        </p:spPr>
      </p:pic>
      <p:sp>
        <p:nvSpPr>
          <p:cNvPr id="17" name="TextBox 16"/>
          <p:cNvSpPr txBox="1"/>
          <p:nvPr/>
        </p:nvSpPr>
        <p:spPr>
          <a:xfrm>
            <a:off x="841248" y="641908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AEC1A6"/>
                </a:solidFill>
                <a:latin typeface="Calibri"/>
              </a:rPr>
              <a:t>Spark Planners · in association with TentnMore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2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0B65A"/>
                </a:solidFill>
                <a:latin typeface="Calibri"/>
              </a:rPr>
              <a:t>CATERING, MENU &amp; CAKE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86868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6DC97"/>
                </a:solidFill>
                <a:latin typeface="Georgia"/>
              </a:rPr>
              <a:t>A dining experience to remember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965960"/>
            <a:ext cx="5715000" cy="1874520"/>
          </a:xfrm>
          <a:prstGeom prst="rect">
            <a:avLst/>
          </a:prstGeom>
          <a:solidFill>
            <a:srgbClr val="0A3B29"/>
          </a:solidFill>
          <a:ln w="7620">
            <a:solidFill>
              <a:srgbClr val="E0B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" y="1965960"/>
            <a:ext cx="64008" cy="1874520"/>
          </a:xfrm>
          <a:prstGeom prst="rect">
            <a:avLst/>
          </a:prstGeom>
          <a:solidFill>
            <a:srgbClr val="E0B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84831"/>
            <a:ext cx="5257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6DC97"/>
                </a:solidFill>
                <a:latin typeface="Georgia"/>
              </a:rPr>
              <a:t>Catering &amp; Wedding Menu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41448"/>
            <a:ext cx="525780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AEC1A6"/>
                </a:solidFill>
                <a:latin typeface="Calibri"/>
              </a:rPr>
              <a:t>Bespoke multi-cuisine menus shaped through private chef tastings, live theatre food stations, and full vegan, gluten-free and allergy care.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4023360"/>
            <a:ext cx="5715000" cy="1874520"/>
          </a:xfrm>
          <a:prstGeom prst="rect">
            <a:avLst/>
          </a:prstGeom>
          <a:solidFill>
            <a:srgbClr val="0A3B29"/>
          </a:solidFill>
          <a:ln w="7620">
            <a:solidFill>
              <a:srgbClr val="E0B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1248" y="4023360"/>
            <a:ext cx="64008" cy="1874520"/>
          </a:xfrm>
          <a:prstGeom prst="rect">
            <a:avLst/>
          </a:prstGeom>
          <a:solidFill>
            <a:srgbClr val="E0B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142232"/>
            <a:ext cx="5257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6DC97"/>
                </a:solidFill>
                <a:latin typeface="Georgia"/>
              </a:rPr>
              <a:t>Wedding Cake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498848"/>
            <a:ext cx="525780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AEC1A6"/>
                </a:solidFill>
                <a:latin typeface="Calibri"/>
              </a:rPr>
              <a:t>Edible sugar-art masterpieces matched to your dress, premium fillings, dramatic reveals, cupcakes and dessert tables.</a:t>
            </a:r>
          </a:p>
        </p:txBody>
      </p:sp>
      <p:pic>
        <p:nvPicPr>
          <p:cNvPr id="12" name="Picture 11" descr="g4-golden-dining.png"/>
          <p:cNvPicPr>
            <a:picLocks noChangeAspect="1"/>
          </p:cNvPicPr>
          <p:nvPr/>
        </p:nvPicPr>
        <p:blipFill>
          <a:blip r:embed="rId2"/>
          <a:srcRect l="13030" r="13030"/>
          <a:stretch>
            <a:fillRect/>
          </a:stretch>
        </p:blipFill>
        <p:spPr>
          <a:xfrm>
            <a:off x="6812280" y="1965960"/>
            <a:ext cx="4526280" cy="4069080"/>
          </a:xfrm>
          <a:prstGeom prst="rect">
            <a:avLst/>
          </a:prstGeom>
          <a:ln w="12700">
            <a:solidFill>
              <a:srgbClr val="E0B65A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841248" y="641908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AEC1A6"/>
                </a:solidFill>
                <a:latin typeface="Calibri"/>
              </a:rPr>
              <a:t>Spark Planners · in association with TentnMore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3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0B65A"/>
                </a:solidFill>
                <a:latin typeface="Calibri"/>
              </a:rPr>
              <a:t>FILMS, ENTERTAINMENT &amp; GUEST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86868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6DC97"/>
                </a:solidFill>
                <a:latin typeface="Georgia"/>
              </a:rPr>
              <a:t>The day, captured and celebrated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965960"/>
            <a:ext cx="5715000" cy="845820"/>
          </a:xfrm>
          <a:prstGeom prst="rect">
            <a:avLst/>
          </a:prstGeom>
          <a:solidFill>
            <a:srgbClr val="0A3B29"/>
          </a:solidFill>
          <a:ln w="7620">
            <a:solidFill>
              <a:srgbClr val="E0B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" y="1965960"/>
            <a:ext cx="64008" cy="845820"/>
          </a:xfrm>
          <a:prstGeom prst="rect">
            <a:avLst/>
          </a:prstGeom>
          <a:solidFill>
            <a:srgbClr val="E0B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84831"/>
            <a:ext cx="5257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6DC97"/>
                </a:solidFill>
                <a:latin typeface="Georgia"/>
              </a:rPr>
              <a:t>Photography &amp; Cinematography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41448"/>
            <a:ext cx="5257800" cy="388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AEC1A6"/>
                </a:solidFill>
                <a:latin typeface="Calibri"/>
              </a:rPr>
              <a:t>Top-tier storytellers for editorial pre-wedding shoots, movie-quality films and fast quick-preview delivery.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2994660"/>
            <a:ext cx="5715000" cy="845820"/>
          </a:xfrm>
          <a:prstGeom prst="rect">
            <a:avLst/>
          </a:prstGeom>
          <a:solidFill>
            <a:srgbClr val="0A3B29"/>
          </a:solidFill>
          <a:ln w="7620">
            <a:solidFill>
              <a:srgbClr val="E0B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1248" y="2994660"/>
            <a:ext cx="64008" cy="845820"/>
          </a:xfrm>
          <a:prstGeom prst="rect">
            <a:avLst/>
          </a:prstGeom>
          <a:solidFill>
            <a:srgbClr val="E0B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113532"/>
            <a:ext cx="5257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6DC97"/>
                </a:solidFill>
                <a:latin typeface="Georgia"/>
              </a:rPr>
              <a:t>Entertainment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470148"/>
            <a:ext cx="5257800" cy="388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AEC1A6"/>
                </a:solidFill>
                <a:latin typeface="Calibri"/>
              </a:rPr>
              <a:t>Premium live acts — DJs, brass bands, acoustic duos — plus magicians, flash mobs, photo booths and 360° cameras.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4023360"/>
            <a:ext cx="5715000" cy="845820"/>
          </a:xfrm>
          <a:prstGeom prst="rect">
            <a:avLst/>
          </a:prstGeom>
          <a:solidFill>
            <a:srgbClr val="0A3B29"/>
          </a:solidFill>
          <a:ln w="7620">
            <a:solidFill>
              <a:srgbClr val="E0B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8" y="4023360"/>
            <a:ext cx="64008" cy="845820"/>
          </a:xfrm>
          <a:prstGeom prst="rect">
            <a:avLst/>
          </a:prstGeom>
          <a:solidFill>
            <a:srgbClr val="E0B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142232"/>
            <a:ext cx="5257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6DC97"/>
                </a:solidFill>
                <a:latin typeface="Georgia"/>
              </a:rPr>
              <a:t>Artist &amp; Celebrity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498848"/>
            <a:ext cx="5257800" cy="388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AEC1A6"/>
                </a:solidFill>
                <a:latin typeface="Calibri"/>
              </a:rPr>
              <a:t>A-list musicians, actors and hosts with full technical, rider, green-room and private-security handling.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" y="5052060"/>
            <a:ext cx="5715000" cy="845820"/>
          </a:xfrm>
          <a:prstGeom prst="rect">
            <a:avLst/>
          </a:prstGeom>
          <a:solidFill>
            <a:srgbClr val="0A3B29"/>
          </a:solidFill>
          <a:ln w="7620">
            <a:solidFill>
              <a:srgbClr val="E0B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1248" y="5052060"/>
            <a:ext cx="64008" cy="845820"/>
          </a:xfrm>
          <a:prstGeom prst="rect">
            <a:avLst/>
          </a:prstGeom>
          <a:solidFill>
            <a:srgbClr val="E0B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5170932"/>
            <a:ext cx="5257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6DC97"/>
                </a:solidFill>
                <a:latin typeface="Georgia"/>
              </a:rPr>
              <a:t>Favours &amp; Gifts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527548"/>
            <a:ext cx="5257800" cy="388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AEC1A6"/>
                </a:solidFill>
                <a:latin typeface="Calibri"/>
              </a:rPr>
              <a:t>Luxury takeaway tokens and local souvenirs, custom-monogrammed packaging and curated welcome baskets.</a:t>
            </a:r>
          </a:p>
        </p:txBody>
      </p:sp>
      <p:pic>
        <p:nvPicPr>
          <p:cNvPr id="20" name="Picture 19" descr="acc-reception.png"/>
          <p:cNvPicPr>
            <a:picLocks noChangeAspect="1"/>
          </p:cNvPicPr>
          <p:nvPr/>
        </p:nvPicPr>
        <p:blipFill>
          <a:blip r:embed="rId2"/>
          <a:srcRect l="12921" r="12921"/>
          <a:stretch>
            <a:fillRect/>
          </a:stretch>
        </p:blipFill>
        <p:spPr>
          <a:xfrm>
            <a:off x="6812280" y="1965960"/>
            <a:ext cx="4526280" cy="4069080"/>
          </a:xfrm>
          <a:prstGeom prst="rect">
            <a:avLst/>
          </a:prstGeom>
          <a:ln w="12700">
            <a:solidFill>
              <a:srgbClr val="E0B65A"/>
            </a:solidFill>
          </a:ln>
        </p:spPr>
      </p:pic>
      <p:sp>
        <p:nvSpPr>
          <p:cNvPr id="21" name="TextBox 20"/>
          <p:cNvSpPr txBox="1"/>
          <p:nvPr/>
        </p:nvSpPr>
        <p:spPr>
          <a:xfrm>
            <a:off x="841248" y="641908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AEC1A6"/>
                </a:solidFill>
                <a:latin typeface="Calibri"/>
              </a:rPr>
              <a:t>Spark Planners · in association with TentnMore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2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0B65A"/>
                </a:solidFill>
                <a:latin typeface="Calibri"/>
              </a:rPr>
              <a:t>BEYOND WEDDINGS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86868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6DC97"/>
                </a:solidFill>
                <a:latin typeface="Georgia"/>
              </a:rPr>
              <a:t>Celebrations of every kind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2011680"/>
            <a:ext cx="5212080" cy="2286000"/>
          </a:xfrm>
          <a:prstGeom prst="rect">
            <a:avLst/>
          </a:prstGeom>
          <a:solidFill>
            <a:srgbClr val="0A3B29"/>
          </a:solidFill>
          <a:ln w="9525">
            <a:solidFill>
              <a:srgbClr val="E0B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" y="2011680"/>
            <a:ext cx="73152" cy="2286000"/>
          </a:xfrm>
          <a:prstGeom prst="rect">
            <a:avLst/>
          </a:prstGeom>
          <a:solidFill>
            <a:srgbClr val="E0B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" y="228600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6DC97"/>
                </a:solidFill>
                <a:latin typeface="Georgia"/>
              </a:rPr>
              <a:t>Birthday Party Decorations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" y="2926080"/>
            <a:ext cx="46634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F2EEDD"/>
                </a:solidFill>
                <a:latin typeface="Calibri"/>
              </a:rPr>
              <a:t>Sparkling, colourful set-ups that turn any milestone into a stunning, memorable celebration for the whole family.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73368" y="2011680"/>
            <a:ext cx="5212080" cy="2286000"/>
          </a:xfrm>
          <a:prstGeom prst="rect">
            <a:avLst/>
          </a:prstGeom>
          <a:solidFill>
            <a:srgbClr val="0A3B29"/>
          </a:solidFill>
          <a:ln w="9525">
            <a:solidFill>
              <a:srgbClr val="E0B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73368" y="2011680"/>
            <a:ext cx="73152" cy="2286000"/>
          </a:xfrm>
          <a:prstGeom prst="rect">
            <a:avLst/>
          </a:prstGeom>
          <a:solidFill>
            <a:srgbClr val="E0B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65976" y="228600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6DC97"/>
                </a:solidFill>
                <a:latin typeface="Georgia"/>
              </a:rPr>
              <a:t>Corporate Event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65976" y="2926080"/>
            <a:ext cx="46634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F2EEDD"/>
                </a:solidFill>
                <a:latin typeface="Calibri"/>
              </a:rPr>
              <a:t>Complete corporate planning — styling, theming, entertainment and audio-visual — delivered end to end, on brief and on time.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47091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1">
                <a:solidFill>
                  <a:srgbClr val="AEC1A6"/>
                </a:solidFill>
                <a:latin typeface="Calibri"/>
              </a:rPr>
              <a:t>Also: cocktail evenings · bachelor &amp; bachelorette parties · anniversaries · private soirées.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641908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AEC1A6"/>
                </a:solidFill>
                <a:latin typeface="Calibri"/>
              </a:rPr>
              <a:t>Spark Planners · in association with TentnMore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3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0B65A"/>
                </a:solidFill>
                <a:latin typeface="Calibri"/>
              </a:rPr>
              <a:t>OUR EDGE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86868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6DC97"/>
                </a:solidFill>
                <a:latin typeface="Georgia"/>
              </a:rPr>
              <a:t>Powered by a Wedding Operating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82880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0" i="0">
                <a:solidFill>
                  <a:srgbClr val="F2EEDD"/>
                </a:solidFill>
                <a:latin typeface="Calibri"/>
              </a:rPr>
              <a:t>What you approve is exactly what we build. Every Spark celebration is planned on a connected design platform — not sketched on napkins.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2788920"/>
            <a:ext cx="2468880" cy="1554480"/>
          </a:xfrm>
          <a:prstGeom prst="rect">
            <a:avLst/>
          </a:prstGeom>
          <a:solidFill>
            <a:srgbClr val="0A3B29"/>
          </a:solidFill>
          <a:ln w="9525">
            <a:solidFill>
              <a:srgbClr val="E0B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3017520"/>
            <a:ext cx="2468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F6DC97"/>
                </a:solidFill>
                <a:latin typeface="Georgia"/>
              </a:rPr>
              <a:t>156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88620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AEC1A6"/>
                </a:solidFill>
                <a:latin typeface="Calibri"/>
              </a:rPr>
              <a:t>design surfaces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584448" y="2788920"/>
            <a:ext cx="2468880" cy="1554480"/>
          </a:xfrm>
          <a:prstGeom prst="rect">
            <a:avLst/>
          </a:prstGeom>
          <a:solidFill>
            <a:srgbClr val="0A3B29"/>
          </a:solidFill>
          <a:ln w="9525">
            <a:solidFill>
              <a:srgbClr val="E0B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84448" y="3017520"/>
            <a:ext cx="2468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F6DC97"/>
                </a:solidFill>
                <a:latin typeface="Georgia"/>
              </a:rPr>
              <a:t>1,441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84448" y="388620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AEC1A6"/>
                </a:solidFill>
                <a:latin typeface="Calibri"/>
              </a:rPr>
              <a:t>knowledge nodes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27648" y="2788920"/>
            <a:ext cx="2468880" cy="1554480"/>
          </a:xfrm>
          <a:prstGeom prst="rect">
            <a:avLst/>
          </a:prstGeom>
          <a:solidFill>
            <a:srgbClr val="0A3B29"/>
          </a:solidFill>
          <a:ln w="9525">
            <a:solidFill>
              <a:srgbClr val="E0B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7648" y="3017520"/>
            <a:ext cx="2468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F6DC97"/>
                </a:solidFill>
                <a:latin typeface="Georgia"/>
              </a:rPr>
              <a:t>4,539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7648" y="388620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AEC1A6"/>
                </a:solidFill>
                <a:latin typeface="Calibri"/>
              </a:rPr>
              <a:t>linked relations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70848" y="2788920"/>
            <a:ext cx="2468880" cy="1554480"/>
          </a:xfrm>
          <a:prstGeom prst="rect">
            <a:avLst/>
          </a:prstGeom>
          <a:solidFill>
            <a:srgbClr val="0A3B29"/>
          </a:solidFill>
          <a:ln w="9525">
            <a:solidFill>
              <a:srgbClr val="E0B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70848" y="3017520"/>
            <a:ext cx="2468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F6DC97"/>
                </a:solidFill>
                <a:latin typeface="Georgia"/>
              </a:rPr>
              <a:t>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0848" y="388620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AEC1A6"/>
                </a:solidFill>
                <a:latin typeface="Calibri"/>
              </a:rPr>
              <a:t>board pages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7091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F2EEDD"/>
                </a:solidFill>
                <a:latin typeface="Calibri"/>
              </a:rPr>
              <a:t>•  AI design co-pilot for ideas &amp; options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09320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F2EEDD"/>
                </a:solidFill>
                <a:latin typeface="Calibri"/>
              </a:rPr>
              <a:t>•  3D / CAD studios for true-to-scale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477256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F2EEDD"/>
                </a:solidFill>
                <a:latin typeface="Calibri"/>
              </a:rPr>
              <a:t>•  Board Composer for client-ready presentations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861304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F2EEDD"/>
                </a:solidFill>
                <a:latin typeface="Calibri"/>
              </a:rPr>
              <a:t>•  Vedi &amp; Muhurat intelligence built 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641908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AEC1A6"/>
                </a:solidFill>
                <a:latin typeface="Calibri"/>
              </a:rPr>
              <a:t>Spark Planners · in association with TentnMore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2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0B65A"/>
                </a:solidFill>
                <a:latin typeface="Calibri"/>
              </a:rPr>
              <a:t>HOW WE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86868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6DC97"/>
                </a:solidFill>
                <a:latin typeface="Georgia"/>
              </a:rPr>
              <a:t>From first call to final frame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2011680"/>
            <a:ext cx="3474720" cy="1463040"/>
          </a:xfrm>
          <a:prstGeom prst="rect">
            <a:avLst/>
          </a:prstGeom>
          <a:solidFill>
            <a:srgbClr val="0A3B29"/>
          </a:solidFill>
          <a:ln w="9525">
            <a:solidFill>
              <a:srgbClr val="E0B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9848" y="2157984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E0B65A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75688" y="221284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6DC97"/>
                </a:solidFill>
                <a:latin typeface="Georgia"/>
              </a:rPr>
              <a:t>Discover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2724912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AEC1A6"/>
                </a:solidFill>
                <a:latin typeface="Calibri"/>
              </a:rPr>
              <a:t>Vision, guest count, dates, budget.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44568" y="2011680"/>
            <a:ext cx="3474720" cy="1463040"/>
          </a:xfrm>
          <a:prstGeom prst="rect">
            <a:avLst/>
          </a:prstGeom>
          <a:solidFill>
            <a:srgbClr val="0A3B29"/>
          </a:solidFill>
          <a:ln w="9525">
            <a:solidFill>
              <a:srgbClr val="E0B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73168" y="2157984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E0B65A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79008" y="221284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6DC97"/>
                </a:solidFill>
                <a:latin typeface="Georgia"/>
              </a:rPr>
              <a:t>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73168" y="2724912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AEC1A6"/>
                </a:solidFill>
                <a:latin typeface="Calibri"/>
              </a:rPr>
              <a:t>Venue, mandap, décor and lighting to scale.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47888" y="2011680"/>
            <a:ext cx="3474720" cy="1463040"/>
          </a:xfrm>
          <a:prstGeom prst="rect">
            <a:avLst/>
          </a:prstGeom>
          <a:solidFill>
            <a:srgbClr val="0A3B29"/>
          </a:solidFill>
          <a:ln w="9525">
            <a:solidFill>
              <a:srgbClr val="E0B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76488" y="2157984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E0B65A"/>
                </a:solidFill>
                <a:latin typeface="Georgia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82328" y="221284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6DC97"/>
                </a:solidFill>
                <a:latin typeface="Georgia"/>
              </a:rPr>
              <a:t>Plan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6488" y="2724912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AEC1A6"/>
                </a:solidFill>
                <a:latin typeface="Calibri"/>
              </a:rPr>
              <a:t>Vendors, timeline, logistics and muhurat.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" y="3749039"/>
            <a:ext cx="3474720" cy="1463040"/>
          </a:xfrm>
          <a:prstGeom prst="rect">
            <a:avLst/>
          </a:prstGeom>
          <a:solidFill>
            <a:srgbClr val="0A3B29"/>
          </a:solidFill>
          <a:ln w="9525">
            <a:solidFill>
              <a:srgbClr val="E0B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9848" y="3895344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E0B65A"/>
                </a:solidFill>
                <a:latin typeface="Georgia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75688" y="3950207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6DC97"/>
                </a:solidFill>
                <a:latin typeface="Georgia"/>
              </a:rPr>
              <a:t>Produce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" y="4462272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AEC1A6"/>
                </a:solidFill>
                <a:latin typeface="Calibri"/>
              </a:rPr>
              <a:t>Fabrication, crews, call sheets, delivery.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44568" y="3749039"/>
            <a:ext cx="3474720" cy="1463040"/>
          </a:xfrm>
          <a:prstGeom prst="rect">
            <a:avLst/>
          </a:prstGeom>
          <a:solidFill>
            <a:srgbClr val="0A3B29"/>
          </a:solidFill>
          <a:ln w="9525">
            <a:solidFill>
              <a:srgbClr val="E0B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3895344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E0B65A"/>
                </a:solidFill>
                <a:latin typeface="Georgia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79008" y="3950207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6DC97"/>
                </a:solidFill>
                <a:latin typeface="Georgia"/>
              </a:rPr>
              <a:t>Film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73168" y="4462272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AEC1A6"/>
                </a:solidFill>
                <a:latin typeface="Calibri"/>
              </a:rPr>
              <a:t>Pre-wedding through full wedding film.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47888" y="3749039"/>
            <a:ext cx="3474720" cy="1463040"/>
          </a:xfrm>
          <a:prstGeom prst="rect">
            <a:avLst/>
          </a:prstGeom>
          <a:solidFill>
            <a:srgbClr val="0A3B29"/>
          </a:solidFill>
          <a:ln w="9525">
            <a:solidFill>
              <a:srgbClr val="E0B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76488" y="3895344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E0B65A"/>
                </a:solidFill>
                <a:latin typeface="Georgia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82328" y="3950207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6DC97"/>
                </a:solidFill>
                <a:latin typeface="Georgia"/>
              </a:rPr>
              <a:t>Celebrate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76488" y="4462272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AEC1A6"/>
                </a:solidFill>
                <a:latin typeface="Calibri"/>
              </a:rPr>
              <a:t>We run the day; you live it.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" y="641908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AEC1A6"/>
                </a:solidFill>
                <a:latin typeface="Calibri"/>
              </a:rPr>
              <a:t>Spark Planners · in association with TentnMore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3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0B65A"/>
                </a:solidFill>
                <a:latin typeface="Calibri"/>
              </a:rPr>
              <a:t>SELECTED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86868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6DC97"/>
                </a:solidFill>
                <a:latin typeface="Georgia"/>
              </a:rPr>
              <a:t>Recent celebrations</a:t>
            </a:r>
          </a:p>
        </p:txBody>
      </p:sp>
      <p:pic>
        <p:nvPicPr>
          <p:cNvPr id="4" name="Picture 3" descr="acc-reception.png"/>
          <p:cNvPicPr>
            <a:picLocks noChangeAspect="1"/>
          </p:cNvPicPr>
          <p:nvPr/>
        </p:nvPicPr>
        <p:blipFill>
          <a:blip r:embed="rId2"/>
          <a:srcRect l="5772" r="5772"/>
          <a:stretch>
            <a:fillRect/>
          </a:stretch>
        </p:blipFill>
        <p:spPr>
          <a:xfrm>
            <a:off x="841248" y="1965960"/>
            <a:ext cx="2487168" cy="1874519"/>
          </a:xfrm>
          <a:prstGeom prst="rect">
            <a:avLst/>
          </a:prstGeom>
          <a:ln w="12700">
            <a:solidFill>
              <a:srgbClr val="E0B65A"/>
            </a:solidFill>
          </a:ln>
        </p:spPr>
      </p:pic>
      <p:pic>
        <p:nvPicPr>
          <p:cNvPr id="5" name="Picture 4" descr="g2-floral-wall.png"/>
          <p:cNvPicPr>
            <a:picLocks noChangeAspect="1"/>
          </p:cNvPicPr>
          <p:nvPr/>
        </p:nvPicPr>
        <p:blipFill>
          <a:blip r:embed="rId3"/>
          <a:srcRect l="16659" r="16659"/>
          <a:stretch>
            <a:fillRect/>
          </a:stretch>
        </p:blipFill>
        <p:spPr>
          <a:xfrm>
            <a:off x="3502152" y="1965960"/>
            <a:ext cx="2487168" cy="1874519"/>
          </a:xfrm>
          <a:prstGeom prst="rect">
            <a:avLst/>
          </a:prstGeom>
          <a:ln w="12700">
            <a:solidFill>
              <a:srgbClr val="E0B65A"/>
            </a:solidFill>
          </a:ln>
        </p:spPr>
      </p:pic>
      <p:pic>
        <p:nvPicPr>
          <p:cNvPr id="6" name="Picture 5" descr="g3-banquet.png"/>
          <p:cNvPicPr>
            <a:picLocks noChangeAspect="1"/>
          </p:cNvPicPr>
          <p:nvPr/>
        </p:nvPicPr>
        <p:blipFill>
          <a:blip r:embed="rId4"/>
          <a:srcRect l="5813" r="5813"/>
          <a:stretch>
            <a:fillRect/>
          </a:stretch>
        </p:blipFill>
        <p:spPr>
          <a:xfrm>
            <a:off x="6163056" y="1965960"/>
            <a:ext cx="2487168" cy="1874519"/>
          </a:xfrm>
          <a:prstGeom prst="rect">
            <a:avLst/>
          </a:prstGeom>
          <a:ln w="12700">
            <a:solidFill>
              <a:srgbClr val="E0B65A"/>
            </a:solidFill>
          </a:ln>
        </p:spPr>
      </p:pic>
      <p:pic>
        <p:nvPicPr>
          <p:cNvPr id="7" name="Picture 6" descr="g4-golden-dining.png"/>
          <p:cNvPicPr>
            <a:picLocks noChangeAspect="1"/>
          </p:cNvPicPr>
          <p:nvPr/>
        </p:nvPicPr>
        <p:blipFill>
          <a:blip r:embed="rId5"/>
          <a:srcRect l="5902" r="5902"/>
          <a:stretch>
            <a:fillRect/>
          </a:stretch>
        </p:blipFill>
        <p:spPr>
          <a:xfrm>
            <a:off x="8823960" y="1965960"/>
            <a:ext cx="2487168" cy="1874519"/>
          </a:xfrm>
          <a:prstGeom prst="rect">
            <a:avLst/>
          </a:prstGeom>
          <a:ln w="12700">
            <a:solidFill>
              <a:srgbClr val="E0B65A"/>
            </a:solidFill>
          </a:ln>
        </p:spPr>
      </p:pic>
      <p:pic>
        <p:nvPicPr>
          <p:cNvPr id="8" name="Picture 7" descr="g5-lawn-arch.png"/>
          <p:cNvPicPr>
            <a:picLocks noChangeAspect="1"/>
          </p:cNvPicPr>
          <p:nvPr/>
        </p:nvPicPr>
        <p:blipFill>
          <a:blip r:embed="rId6"/>
          <a:srcRect l="5724" r="5724"/>
          <a:stretch>
            <a:fillRect/>
          </a:stretch>
        </p:blipFill>
        <p:spPr>
          <a:xfrm>
            <a:off x="841248" y="4041648"/>
            <a:ext cx="2487168" cy="1874519"/>
          </a:xfrm>
          <a:prstGeom prst="rect">
            <a:avLst/>
          </a:prstGeom>
          <a:ln w="12700">
            <a:solidFill>
              <a:srgbClr val="E0B65A"/>
            </a:solidFill>
          </a:ln>
        </p:spPr>
      </p:pic>
      <p:pic>
        <p:nvPicPr>
          <p:cNvPr id="9" name="Picture 8" descr="g6-mandap-night.png"/>
          <p:cNvPicPr>
            <a:picLocks noChangeAspect="1"/>
          </p:cNvPicPr>
          <p:nvPr/>
        </p:nvPicPr>
        <p:blipFill>
          <a:blip r:embed="rId7"/>
          <a:srcRect l="5815" r="5815"/>
          <a:stretch>
            <a:fillRect/>
          </a:stretch>
        </p:blipFill>
        <p:spPr>
          <a:xfrm>
            <a:off x="3502152" y="4041648"/>
            <a:ext cx="2487168" cy="1874519"/>
          </a:xfrm>
          <a:prstGeom prst="rect">
            <a:avLst/>
          </a:prstGeom>
          <a:ln w="12700">
            <a:solidFill>
              <a:srgbClr val="E0B65A"/>
            </a:solidFill>
          </a:ln>
        </p:spPr>
      </p:pic>
      <p:pic>
        <p:nvPicPr>
          <p:cNvPr id="10" name="Picture 9" descr="g7-outdoor-stage.png"/>
          <p:cNvPicPr>
            <a:picLocks noChangeAspect="1"/>
          </p:cNvPicPr>
          <p:nvPr/>
        </p:nvPicPr>
        <p:blipFill>
          <a:blip r:embed="rId8"/>
          <a:srcRect l="5688" r="5688"/>
          <a:stretch>
            <a:fillRect/>
          </a:stretch>
        </p:blipFill>
        <p:spPr>
          <a:xfrm>
            <a:off x="6163056" y="4041648"/>
            <a:ext cx="2487168" cy="1874519"/>
          </a:xfrm>
          <a:prstGeom prst="rect">
            <a:avLst/>
          </a:prstGeom>
          <a:ln w="12700">
            <a:solidFill>
              <a:srgbClr val="E0B65A"/>
            </a:solidFill>
          </a:ln>
        </p:spPr>
      </p:pic>
      <p:pic>
        <p:nvPicPr>
          <p:cNvPr id="11" name="Picture 10" descr="g8-floral-lights.png"/>
          <p:cNvPicPr>
            <a:picLocks noChangeAspect="1"/>
          </p:cNvPicPr>
          <p:nvPr/>
        </p:nvPicPr>
        <p:blipFill>
          <a:blip r:embed="rId9"/>
          <a:srcRect l="5821" r="5821"/>
          <a:stretch>
            <a:fillRect/>
          </a:stretch>
        </p:blipFill>
        <p:spPr>
          <a:xfrm>
            <a:off x="8823960" y="4041648"/>
            <a:ext cx="2487168" cy="1874519"/>
          </a:xfrm>
          <a:prstGeom prst="rect">
            <a:avLst/>
          </a:prstGeom>
          <a:ln w="12700">
            <a:solidFill>
              <a:srgbClr val="E0B65A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841248" y="641908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AEC1A6"/>
                </a:solidFill>
                <a:latin typeface="Calibri"/>
              </a:rPr>
              <a:t>Spark Planners · in association with TentnMore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2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0B65A"/>
                </a:solidFill>
                <a:latin typeface="Calibri"/>
              </a:rPr>
              <a:t>WHY 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86868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6DC97"/>
                </a:solidFill>
                <a:latin typeface="Georgia"/>
              </a:rPr>
              <a:t>The wow factor, end to 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286000"/>
            <a:ext cx="9601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 i="1">
                <a:solidFill>
                  <a:srgbClr val="F6DC97"/>
                </a:solidFill>
                <a:latin typeface="Georgia"/>
              </a:rPr>
              <a:t>“We aim to provide every detail touch to your rituals and imbibe the wow factor — to make it look simple yet elegant.”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57200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F2EEDD"/>
                </a:solidFill>
                <a:latin typeface="Calibri"/>
              </a:rPr>
              <a:t>One team. One accountable plan. A flawless, unforgettable celebration from start to finish.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41908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AEC1A6"/>
                </a:solidFill>
                <a:latin typeface="Calibri"/>
              </a:rPr>
              <a:t>Spark Planners · in association with TentnMore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2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11480"/>
            <a:ext cx="11368735" cy="6035040"/>
          </a:xfrm>
          <a:prstGeom prst="rect">
            <a:avLst/>
          </a:prstGeom>
          <a:noFill/>
          <a:ln w="15875">
            <a:solidFill>
              <a:srgbClr val="E0B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66928"/>
            <a:ext cx="11057839" cy="5724144"/>
          </a:xfrm>
          <a:prstGeom prst="rect">
            <a:avLst/>
          </a:prstGeom>
          <a:noFill/>
          <a:ln w="6350">
            <a:solidFill>
              <a:srgbClr val="E0B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90007" y="2103120"/>
            <a:ext cx="2011680" cy="22860"/>
          </a:xfrm>
          <a:prstGeom prst="rect">
            <a:avLst/>
          </a:prstGeom>
          <a:solidFill>
            <a:srgbClr val="E0B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514600"/>
            <a:ext cx="121916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F6DC97"/>
                </a:solidFill>
                <a:latin typeface="Georgia"/>
              </a:rPr>
              <a:t>Let's create your 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657600"/>
            <a:ext cx="1219169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2EEDD"/>
                </a:solidFill>
                <a:latin typeface="Calibri"/>
              </a:rPr>
              <a:t>SPARK PLANNERS  ·  Sanjeeta Khaira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11480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0" i="1">
                <a:solidFill>
                  <a:srgbClr val="AEC1A6"/>
                </a:solidFill>
                <a:latin typeface="Calibri"/>
              </a:rPr>
              <a:t>in association with TentnMore Event Planners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70916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F6DC97"/>
                </a:solidFill>
                <a:latin typeface="Calibri"/>
              </a:rPr>
              <a:t>tentnmore@gmail.com    ·    +91 95402 30027    ·    www.tentnmore.in</a:t>
            </a:r>
          </a:p>
        </p:txBody>
      </p:sp>
      <p:sp>
        <p:nvSpPr>
          <p:cNvPr id="9" name="Rectangle 8"/>
          <p:cNvSpPr/>
          <p:nvPr/>
        </p:nvSpPr>
        <p:spPr>
          <a:xfrm>
            <a:off x="5090007" y="5257800"/>
            <a:ext cx="2011680" cy="22860"/>
          </a:xfrm>
          <a:prstGeom prst="rect">
            <a:avLst/>
          </a:prstGeom>
          <a:solidFill>
            <a:srgbClr val="E0B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